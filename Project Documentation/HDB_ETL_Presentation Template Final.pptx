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94" r:id="rId7"/>
    <p:sldId id="293" r:id="rId8"/>
    <p:sldId id="292" r:id="rId9"/>
    <p:sldId id="291" r:id="rId10"/>
    <p:sldId id="301" r:id="rId11"/>
    <p:sldId id="299" r:id="rId12"/>
    <p:sldId id="302" r:id="rId13"/>
    <p:sldId id="297" r:id="rId14"/>
    <p:sldId id="295" r:id="rId15"/>
    <p:sldId id="278" r:id="rId16"/>
    <p:sldId id="290" r:id="rId17"/>
    <p:sldId id="276" r:id="rId18"/>
    <p:sldId id="279" r:id="rId19"/>
    <p:sldId id="283" r:id="rId20"/>
    <p:sldId id="284" r:id="rId21"/>
    <p:sldId id="285" r:id="rId22"/>
    <p:sldId id="286" r:id="rId23"/>
    <p:sldId id="287" r:id="rId24"/>
    <p:sldId id="28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4" userDrawn="1">
          <p15:clr>
            <a:srgbClr val="A4A3A4"/>
          </p15:clr>
        </p15:guide>
        <p15:guide id="2" pos="2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4571AB-2EC8-F52D-AD7B-EE5AE862518D}" v="3" dt="2025-12-17T01:36:03.2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794" y="96"/>
      </p:cViewPr>
      <p:guideLst>
        <p:guide orient="horz" pos="2084"/>
        <p:guide pos="28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n Boon L (SG-JDE08)" userId="S::honl@genstudents.org::7df81fba-b2f8-4447-a565-b5fd017444a0" providerId="AD" clId="Web-{924571AB-2EC8-F52D-AD7B-EE5AE862518D}"/>
    <pc:docChg chg="modSld">
      <pc:chgData name="Hon Boon L (SG-JDE08)" userId="S::honl@genstudents.org::7df81fba-b2f8-4447-a565-b5fd017444a0" providerId="AD" clId="Web-{924571AB-2EC8-F52D-AD7B-EE5AE862518D}" dt="2025-12-17T01:36:03.265" v="1" actId="20577"/>
      <pc:docMkLst>
        <pc:docMk/>
      </pc:docMkLst>
      <pc:sldChg chg="modSp">
        <pc:chgData name="Hon Boon L (SG-JDE08)" userId="S::honl@genstudents.org::7df81fba-b2f8-4447-a565-b5fd017444a0" providerId="AD" clId="Web-{924571AB-2EC8-F52D-AD7B-EE5AE862518D}" dt="2025-12-17T01:36:03.265" v="1" actId="20577"/>
        <pc:sldMkLst>
          <pc:docMk/>
          <pc:sldMk cId="0" sldId="257"/>
        </pc:sldMkLst>
        <pc:spChg chg="mod">
          <ac:chgData name="Hon Boon L (SG-JDE08)" userId="S::honl@genstudents.org::7df81fba-b2f8-4447-a565-b5fd017444a0" providerId="AD" clId="Web-{924571AB-2EC8-F52D-AD7B-EE5AE862518D}" dt="2025-12-17T01:36:03.265" v="1" actId="20577"/>
          <ac:spMkLst>
            <pc:docMk/>
            <pc:sldMk cId="0" sldId="257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Extract raw HDB resale data</a:t>
            </a:r>
          </a:p>
          <a:p>
            <a:r>
              <a:t>Perform EDA</a:t>
            </a:r>
          </a:p>
          <a:p>
            <a:r>
              <a:t>Transform dataset</a:t>
            </a:r>
          </a:p>
          <a:p>
            <a:r>
              <a:t>Load into PostgreSQL</a:t>
            </a:r>
          </a:p>
          <a:p>
            <a:r>
              <a:t>Run SQL checks</a:t>
            </a:r>
          </a:p>
          <a:p>
            <a:r>
              <a:t>Build SQL views</a:t>
            </a:r>
          </a:p>
          <a:p>
            <a:r>
              <a:t>Storytelling using SQL</a:t>
            </a:r>
            <a:endParaRPr lang="en-SG"/>
          </a:p>
          <a:p>
            <a:endParaRPr lang="en-SG"/>
          </a:p>
          <a:p>
            <a:r>
              <a:rPr lang="en-US" err="1"/>
              <a:t>Emphasise</a:t>
            </a:r>
            <a:r>
              <a:rPr lang="en-US"/>
              <a:t>: SQL only project, no BI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Singapore resale market is dynamic</a:t>
            </a:r>
          </a:p>
          <a:p>
            <a:r>
              <a:t>ETL reveals insights</a:t>
            </a:r>
          </a:p>
          <a:p>
            <a:r>
              <a:t>Supports data driven decisions</a:t>
            </a:r>
          </a:p>
          <a:p>
            <a:r>
              <a:t>SQL only approach for clarity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data/raw</a:t>
            </a:r>
          </a:p>
          <a:p>
            <a:r>
              <a:t>data/processed</a:t>
            </a:r>
          </a:p>
          <a:p>
            <a:r>
              <a:t>notebooks/</a:t>
            </a:r>
          </a:p>
          <a:p>
            <a:r>
              <a:t>scripts/</a:t>
            </a:r>
          </a:p>
          <a:p>
            <a:r>
              <a:rPr err="1"/>
              <a:t>sql</a:t>
            </a:r>
            <a:r>
              <a:t>/</a:t>
            </a:r>
          </a:p>
          <a:p>
            <a:r>
              <a:t>.env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Semi automated extraction</a:t>
            </a:r>
          </a:p>
          <a:p>
            <a:r>
              <a:t>Schema + row count checks</a:t>
            </a:r>
          </a:p>
          <a:p>
            <a:r>
              <a:t>Reproducible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Identify anomalies</a:t>
            </a:r>
          </a:p>
          <a:p>
            <a:r>
              <a:t>Discover feature engineering needs</a:t>
            </a:r>
          </a:p>
          <a:p>
            <a:r>
              <a:t>Confirm transformation rules</a:t>
            </a:r>
            <a:endParaRPr lang="en-SG"/>
          </a:p>
          <a:p>
            <a:endParaRPr lang="en-SG"/>
          </a:p>
          <a:p>
            <a:r>
              <a:rPr lang="en-US"/>
              <a:t>EDA informs Transform logic and SQL Layer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SG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Automate ETL</a:t>
            </a:r>
          </a:p>
          <a:p>
            <a:r>
              <a:t>Add BI dashboard</a:t>
            </a:r>
          </a:p>
          <a:p>
            <a:r>
              <a:t>Star schema</a:t>
            </a:r>
          </a:p>
          <a:p>
            <a:r>
              <a:t>Forecasting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</a:t>
            </a:r>
          </a:p>
          <a:p>
            <a:r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>
            <a:spLocks noGrp="1"/>
          </p:cNvSpPr>
          <p:nvPr/>
        </p:nvSpPr>
        <p:spPr>
          <a:xfrm>
            <a:off x="959485" y="2928620"/>
            <a:ext cx="722439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fontScale="8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</a:t>
            </a:r>
            <a:r>
              <a:rPr lang="en-US" sz="6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HDB Resale ETL Pipeline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840" y="2385695"/>
            <a:ext cx="4958715" cy="686435"/>
          </a:xfrm>
        </p:spPr>
        <p:txBody>
          <a:bodyPr>
            <a:normAutofit fontScale="90000"/>
          </a:bodyPr>
          <a:lstStyle/>
          <a:p>
            <a:r>
              <a:rPr lang="en-US" altLang="en-SG">
                <a:ln w="9525">
                  <a:solidFill>
                    <a:sysClr val="windowText" lastClr="000000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</a:t>
            </a:r>
            <a:r>
              <a:rPr lang="en-SG">
                <a:ln w="9525">
                  <a:solidFill>
                    <a:sysClr val="windowText" lastClr="000000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eam </a:t>
            </a:r>
            <a:r>
              <a:rPr lang="en-SG" err="1">
                <a:ln w="9525">
                  <a:solidFill>
                    <a:sysClr val="windowText" lastClr="000000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Midjoiners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1941" y="3919475"/>
            <a:ext cx="779929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SG" b="1">
                <a:solidFill>
                  <a:schemeClr val="tx2">
                    <a:lumMod val="75000"/>
                  </a:schemeClr>
                </a:solidFill>
              </a:rPr>
              <a:t>Extract → EDA → Transform → Load → SQL Layer → Storytelling</a:t>
            </a:r>
          </a:p>
        </p:txBody>
      </p:sp>
      <p:pic>
        <p:nvPicPr>
          <p:cNvPr id="10" name="Picture 9" descr="hdbvectorNo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554990"/>
            <a:ext cx="2392680" cy="2661285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1040130" y="6402070"/>
            <a:ext cx="7062470" cy="31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wrap="square" rtlCol="0" anchor="t">
            <a:noAutofit/>
          </a:bodyPr>
          <a:lstStyle/>
          <a:p>
            <a:r>
              <a:rPr lang="en-US" sz="1200" b="1">
                <a:sym typeface="+mn-ea"/>
              </a:rPr>
              <a:t>Alvin - Extract &amp; EDA Lead | Hon Boon - Transform Lead | Janson - Load Lead | </a:t>
            </a:r>
            <a:r>
              <a:rPr lang="en-US" sz="1200" b="1" err="1">
                <a:sym typeface="+mn-ea"/>
              </a:rPr>
              <a:t>Peisi</a:t>
            </a:r>
            <a:r>
              <a:rPr lang="en-US" sz="1200" b="1">
                <a:sym typeface="+mn-ea"/>
              </a:rPr>
              <a:t> - SQL Layer &amp; Story Lead</a:t>
            </a:r>
            <a:endParaRPr lang="en-US" sz="1200" b="1"/>
          </a:p>
          <a:p>
            <a:r>
              <a:rPr lang="en-US" sz="1400">
                <a:sym typeface="+mn-ea"/>
              </a:rPr>
              <a:t>  </a:t>
            </a:r>
            <a:endParaRPr lang="en-US" altLang="en-US" sz="1400"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655060" y="6188710"/>
            <a:ext cx="1831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200" b="1"/>
              <a:t>Team Members [ </a:t>
            </a:r>
            <a:r>
              <a:rPr lang="en-US" sz="1200" b="1">
                <a:sym typeface="+mn-ea"/>
              </a:rPr>
              <a:t>JDE08</a:t>
            </a:r>
            <a:r>
              <a:rPr lang="en-US" sz="1200">
                <a:sym typeface="+mn-ea"/>
              </a:rPr>
              <a:t> </a:t>
            </a:r>
            <a:r>
              <a:rPr lang="en-US" altLang="en-GB" sz="1200" b="1"/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 </a:t>
            </a:r>
            <a:r>
              <a:rPr lang="en-US" sz="6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Project Overview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720725" y="1186180"/>
            <a:ext cx="5414645" cy="575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2800" b="1">
                <a:solidFill>
                  <a:schemeClr val="tx2">
                    <a:lumMod val="75000"/>
                  </a:schemeClr>
                </a:solidFill>
              </a:rPr>
              <a:t>What We Accomplished</a:t>
            </a:r>
          </a:p>
          <a:p>
            <a:endParaRPr lang="en-SG" altLang="en-GB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20725" y="2295525"/>
            <a:ext cx="6383655" cy="4238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</a:t>
            </a:r>
            <a:r>
              <a:rPr lang="en-SG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Extracted raw data from Data.gov.sg</a:t>
            </a: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</a:t>
            </a:r>
            <a:r>
              <a:rPr lang="en-SG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Performed EDA to understand quality and transformation needs</a:t>
            </a:r>
            <a:br>
              <a:rPr lang="en-US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</a:b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</a:t>
            </a:r>
            <a:r>
              <a:rPr lang="en-SG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Cleaned and enriched dataset</a:t>
            </a: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</a:t>
            </a:r>
            <a:r>
              <a:rPr lang="en-SG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Loaded structured data into PostgreSQL</a:t>
            </a: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endParaRPr lang="en-US" sz="22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 sz="2800"/>
            </a:pP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</a:t>
            </a:r>
            <a:r>
              <a:rPr lang="en-SG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Built SQL views and analytical queries</a:t>
            </a:r>
          </a:p>
          <a:p>
            <a:pPr>
              <a:defRPr sz="2800"/>
            </a:pPr>
            <a:endParaRPr lang="en-SG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 indent="0">
              <a:buFont typeface="Arial" panose="020B0604020202020204" pitchFamily="34" charset="0"/>
              <a:buNone/>
              <a:defRPr sz="2800"/>
            </a:pP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</a:t>
            </a:r>
            <a:r>
              <a:rPr lang="en-SG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Presented insights through pure SQL storytelling</a:t>
            </a:r>
            <a:endParaRPr lang="en-SG" sz="2200" b="1" dirty="0">
              <a:solidFill>
                <a:schemeClr val="tx2">
                  <a:lumMod val="75000"/>
                </a:schemeClr>
              </a:solidFill>
            </a:endParaRPr>
          </a:p>
          <a:p>
            <a:pPr indent="0">
              <a:buFont typeface="Arial" panose="020B0604020202020204" pitchFamily="34" charset="0"/>
              <a:buNone/>
              <a:defRPr sz="2800"/>
            </a:pPr>
            <a:endParaRPr lang="en-SG" sz="2200" dirty="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800"/>
            </a:pPr>
            <a:endParaRPr sz="25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 sz="2800"/>
            </a:pP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endParaRPr lang="en-US" sz="2500" dirty="0">
              <a:sym typeface="+mn-ea"/>
            </a:endParaRPr>
          </a:p>
          <a:p>
            <a:pPr>
              <a:defRPr sz="2800"/>
            </a:pPr>
            <a:endParaRPr lang="en-US" alt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720725" y="1762125"/>
            <a:ext cx="7171690" cy="4324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A full ETL pipeline for the Singapore HDB resale dataset (2017 onwards):</a:t>
            </a:r>
            <a:endParaRPr lang="en-SG" altLang="en-GB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 fontScale="6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</a:t>
            </a:r>
            <a:r>
              <a:rPr lang="en-US" sz="7145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Why This Project Matters</a:t>
            </a:r>
            <a:endParaRPr lang="en-US" sz="7145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80720" y="1494790"/>
            <a:ext cx="6383655" cy="4238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HDB resale market is highly dynamic</a:t>
            </a:r>
          </a:p>
          <a:p>
            <a:pPr>
              <a:defRPr sz="2800"/>
            </a:pPr>
            <a:endParaRPr 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Decisions involve price trends, lease decay, location and affordability</a:t>
            </a:r>
            <a:b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</a:br>
            <a:endParaRPr 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Raw datasets are large and unstructured</a:t>
            </a:r>
          </a:p>
          <a:p>
            <a:pPr>
              <a:defRPr sz="2800"/>
            </a:pPr>
            <a:endParaRPr 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Good ETL can reveal insights not seen in apps like </a:t>
            </a:r>
            <a:r>
              <a:rPr lang="en-US" sz="2500" b="1" dirty="0" err="1">
                <a:solidFill>
                  <a:schemeClr val="tx2">
                    <a:lumMod val="75000"/>
                  </a:schemeClr>
                </a:solidFill>
                <a:sym typeface="+mn-ea"/>
              </a:rPr>
              <a:t>PropertyGuru</a:t>
            </a:r>
            <a:endParaRPr 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endParaRPr lang="en-US" sz="25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Useful educational project for real world data engineering processes</a:t>
            </a:r>
            <a:endParaRPr sz="25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 sz="2800"/>
            </a:pP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endParaRPr lang="en-US" sz="2500" dirty="0">
              <a:sym typeface="+mn-ea"/>
            </a:endParaRPr>
          </a:p>
          <a:p>
            <a:pPr>
              <a:defRPr sz="2800"/>
            </a:pPr>
            <a:endParaRPr lang="en-US" alt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program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" y="1473835"/>
            <a:ext cx="3230880" cy="441579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</p:pic>
      <p:sp>
        <p:nvSpPr>
          <p:cNvPr id="6" name="Title 3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 fontScale="6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   </a:t>
            </a:r>
            <a:r>
              <a:rPr lang="en-US" sz="7145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Project Folder Structure</a:t>
            </a:r>
            <a:endParaRPr lang="en-US" sz="7145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181475" y="2918460"/>
            <a:ext cx="4606290" cy="2545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</a:t>
            </a:r>
            <a:r>
              <a:rPr lang="en-SG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Clean separation of concerns</a:t>
            </a:r>
            <a:endParaRPr 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endParaRPr 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</a:t>
            </a:r>
            <a:r>
              <a:rPr lang="en-SG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Reusable scripts</a:t>
            </a:r>
            <a:endParaRPr 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endParaRPr 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</a:t>
            </a:r>
            <a:r>
              <a:rPr lang="en-SG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Clear pipeline flow</a:t>
            </a:r>
            <a:endParaRPr lang="en-SG" sz="25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 sz="2800"/>
            </a:pPr>
            <a:endParaRPr lang="en-SG" sz="25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 sz="2800"/>
            </a:pP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endParaRPr lang="en-US" sz="2500" dirty="0">
              <a:sym typeface="+mn-ea"/>
            </a:endParaRPr>
          </a:p>
          <a:p>
            <a:pPr>
              <a:defRPr sz="2800"/>
            </a:pPr>
            <a:endParaRPr lang="en-US" alt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181475" y="1932940"/>
            <a:ext cx="2023745" cy="603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3500" b="1">
                <a:solidFill>
                  <a:schemeClr val="tx2">
                    <a:lumMod val="75000"/>
                  </a:schemeClr>
                </a:solidFill>
              </a:rPr>
              <a:t>Purpose: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63565" y="1913890"/>
            <a:ext cx="2741295" cy="3030855"/>
          </a:xfrm>
        </p:spPr>
      </p:pic>
      <p:sp>
        <p:nvSpPr>
          <p:cNvPr id="4" name="Title 3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     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Phase </a:t>
            </a:r>
            <a:r>
              <a:rPr lang="en-US"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: </a:t>
            </a:r>
            <a:r>
              <a:rPr lang="en-US" sz="48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Extract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68960" y="1641475"/>
            <a:ext cx="3282950" cy="629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GB" sz="3500" b="1">
                <a:solidFill>
                  <a:schemeClr val="tx2">
                    <a:lumMod val="75000"/>
                  </a:schemeClr>
                </a:solidFill>
                <a:sym typeface="+mn-ea"/>
              </a:rPr>
              <a:t>Key Points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568960" y="2617470"/>
            <a:ext cx="6167755" cy="3072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Used Data.gov.sg resale dataset</a:t>
            </a:r>
          </a:p>
          <a:p>
            <a:pPr>
              <a:defRPr sz="2800"/>
            </a:pPr>
            <a:endParaRPr 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Semi automated CSV retrieval</a:t>
            </a:r>
          </a:p>
          <a:p>
            <a:pPr>
              <a:defRPr sz="2800"/>
            </a:pPr>
            <a:endParaRPr 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</a:t>
            </a:r>
            <a:r>
              <a:rPr lang="en-US" altLang="en-GB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Verified field consistency, </a:t>
            </a:r>
          </a:p>
          <a:p>
            <a:pPr>
              <a:defRPr sz="2800"/>
            </a:pPr>
            <a:r>
              <a:rPr lang="en-US" altLang="en-GB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   row count, schema</a:t>
            </a:r>
          </a:p>
          <a:p>
            <a:pPr>
              <a:defRPr sz="2800"/>
            </a:pPr>
            <a:endParaRPr 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Ensured reproducibility through notebook</a:t>
            </a:r>
            <a:endParaRPr lang="en-SG" sz="25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 sz="2800"/>
            </a:pP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endParaRPr lang="en-US" sz="2500" dirty="0">
              <a:sym typeface="+mn-ea"/>
            </a:endParaRPr>
          </a:p>
          <a:p>
            <a:pPr>
              <a:defRPr sz="2800"/>
            </a:pPr>
            <a:endParaRPr lang="en-US" alt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gnifying glass with graph in it&#10;&#10;AI-generated content may be incorrect.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78245" y="1689735"/>
            <a:ext cx="2366645" cy="3477895"/>
          </a:xfrm>
          <a:prstGeom prst="rect">
            <a:avLst/>
          </a:prstGeom>
          <a:ln>
            <a:noFill/>
          </a:ln>
        </p:spPr>
      </p:pic>
      <p:sp>
        <p:nvSpPr>
          <p:cNvPr id="5" name="Title 3"/>
          <p:cNvSpPr>
            <a:spLocks noGrp="1"/>
          </p:cNvSpPr>
          <p:nvPr/>
        </p:nvSpPr>
        <p:spPr>
          <a:xfrm>
            <a:off x="0" y="0"/>
            <a:ext cx="6776720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</a:t>
            </a:r>
            <a:r>
              <a:rPr sz="3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Phase </a:t>
            </a:r>
            <a:r>
              <a:rPr lang="en-US" sz="3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  <a:r>
              <a:rPr sz="3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: </a:t>
            </a:r>
            <a:r>
              <a:rPr lang="en-US" sz="32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Exploratory Data Analysis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68960" y="2043430"/>
            <a:ext cx="6383655" cy="4238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</a:t>
            </a: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 No major missing core fields</a:t>
            </a:r>
          </a:p>
          <a:p>
            <a:pPr>
              <a:defRPr sz="2800"/>
            </a:pP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Remaining lease requires conversion</a:t>
            </a:r>
          </a:p>
          <a:p>
            <a:pPr>
              <a:defRPr sz="2800"/>
            </a:pP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Year, month, quarter derived fields needed</a:t>
            </a:r>
          </a:p>
          <a:p>
            <a:pPr>
              <a:defRPr sz="2800"/>
            </a:pP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Price trends rising sharply post 2020</a:t>
            </a:r>
          </a:p>
          <a:p>
            <a:pPr>
              <a:defRPr sz="2800"/>
            </a:pPr>
            <a:endParaRPr lang="en-US" sz="22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 sz="2800"/>
            </a:pP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4 Room flats dominate dataset</a:t>
            </a:r>
          </a:p>
          <a:p>
            <a:pPr>
              <a:defRPr sz="2800"/>
            </a:pPr>
            <a:endParaRPr lang="en-US" sz="22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2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Towns like Sengkang, Punggol, Tampines have highest volume</a:t>
            </a:r>
            <a:endParaRPr sz="22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 sz="2800"/>
            </a:pPr>
            <a:endParaRPr lang="en-US" sz="2500" dirty="0">
              <a:sym typeface="+mn-ea"/>
            </a:endParaRPr>
          </a:p>
          <a:p>
            <a:pPr>
              <a:defRPr sz="2800"/>
            </a:pPr>
            <a:endParaRPr lang="en-US" alt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68960" y="1207135"/>
            <a:ext cx="2934970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500" b="1">
                <a:solidFill>
                  <a:schemeClr val="tx2">
                    <a:lumMod val="75000"/>
                  </a:schemeClr>
                </a:solidFill>
              </a:rPr>
              <a:t>6 Key Findings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2032000" y="306990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sz="16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032000" y="-397192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sz="16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 </a:t>
            </a:r>
          </a:p>
        </p:txBody>
      </p:sp>
      <p:sp>
        <p:nvSpPr>
          <p:cNvPr id="6" name="Title 3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 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Phase </a:t>
            </a:r>
            <a:r>
              <a:rPr lang="en-US"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: </a:t>
            </a:r>
            <a:r>
              <a:rPr lang="en-US" sz="48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Transform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06400" y="1043940"/>
            <a:ext cx="2491105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2200" b="1">
                <a:solidFill>
                  <a:schemeClr val="tx2">
                    <a:lumMod val="75000"/>
                  </a:schemeClr>
                </a:solidFill>
              </a:rPr>
              <a:t>Raw Data Structure</a:t>
            </a:r>
            <a:r>
              <a:rPr lang="en-US" altLang="en-GB"/>
              <a:t>​</a:t>
            </a:r>
          </a:p>
          <a:p>
            <a:endParaRPr lang="en-US" altLang="en-GB"/>
          </a:p>
          <a:p>
            <a:endParaRPr lang="en-US" altLang="en-GB"/>
          </a:p>
        </p:txBody>
      </p:sp>
      <p:sp>
        <p:nvSpPr>
          <p:cNvPr id="10" name="Text Box 9"/>
          <p:cNvSpPr txBox="1"/>
          <p:nvPr/>
        </p:nvSpPr>
        <p:spPr>
          <a:xfrm>
            <a:off x="4277360" y="297148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sz="16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 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032000" y="2219960"/>
            <a:ext cx="7080885" cy="53784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/>
            <a:r>
              <a:rPr sz="16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 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342265" y="1518285"/>
          <a:ext cx="5356225" cy="5212080"/>
        </p:xfrm>
        <a:graphic>
          <a:graphicData uri="http://schemas.openxmlformats.org/drawingml/2006/table">
            <a:tbl>
              <a:tblPr/>
              <a:tblGrid>
                <a:gridCol w="2571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0" indent="121920" algn="l">
                        <a:lnSpc>
                          <a:spcPts val="0"/>
                        </a:lnSpc>
                      </a:pPr>
                      <a:r>
                        <a:rPr lang="en-SG" sz="12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Column Name​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8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1920" algn="l">
                        <a:lnSpc>
                          <a:spcPts val="0"/>
                        </a:lnSpc>
                      </a:pPr>
                      <a:r>
                        <a:rPr lang="en-SG" sz="12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Description​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8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indent="76200" algn="l">
                        <a:lnSpc>
                          <a:spcPts val="0"/>
                        </a:lnSpc>
                      </a:pPr>
                      <a:r>
                        <a:rPr lang="en-SG" sz="8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_id​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8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1440" algn="l">
                        <a:lnSpc>
                          <a:spcPts val="0"/>
                        </a:lnSpc>
                      </a:pPr>
                      <a:r>
                        <a:rPr lang="en-SG" sz="9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Unique identifier for each record​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8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0" indent="76200" algn="l">
                        <a:lnSpc>
                          <a:spcPts val="0"/>
                        </a:lnSpc>
                      </a:pPr>
                      <a:r>
                        <a:rPr lang="en-SG" sz="8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month​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1440" algn="l">
                        <a:lnSpc>
                          <a:spcPts val="0"/>
                        </a:lnSpc>
                      </a:pPr>
                      <a:r>
                        <a:rPr lang="en-SG" sz="9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Year-month of resale (YYYY-MM)​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indent="76200" algn="l">
                        <a:lnSpc>
                          <a:spcPts val="0"/>
                        </a:lnSpc>
                      </a:pPr>
                      <a:r>
                        <a:rPr lang="en-SG" sz="8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town​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1440" algn="l">
                        <a:lnSpc>
                          <a:spcPts val="0"/>
                        </a:lnSpc>
                      </a:pPr>
                      <a:r>
                        <a:rPr lang="en-SG" sz="9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Town/estate where the flat is located​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0" indent="76200" algn="l">
                        <a:lnSpc>
                          <a:spcPts val="0"/>
                        </a:lnSpc>
                      </a:pPr>
                      <a:r>
                        <a:rPr lang="en-SG" sz="8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flat_type​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1440" algn="l">
                        <a:lnSpc>
                          <a:spcPts val="0"/>
                        </a:lnSpc>
                      </a:pPr>
                      <a:r>
                        <a:rPr lang="en-SG" sz="9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Type of flat​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0" indent="76200" algn="l">
                        <a:lnSpc>
                          <a:spcPts val="0"/>
                        </a:lnSpc>
                      </a:pPr>
                      <a:r>
                        <a:rPr lang="en-SG" sz="8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block​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1440" algn="l">
                        <a:lnSpc>
                          <a:spcPts val="0"/>
                        </a:lnSpc>
                      </a:pPr>
                      <a:r>
                        <a:rPr lang="en-SG" sz="9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Block number​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0" indent="76200" algn="l">
                        <a:lnSpc>
                          <a:spcPts val="0"/>
                        </a:lnSpc>
                      </a:pPr>
                      <a:r>
                        <a:rPr lang="en-SG" sz="8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street_name​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1440" algn="l">
                        <a:lnSpc>
                          <a:spcPts val="0"/>
                        </a:lnSpc>
                      </a:pPr>
                      <a:r>
                        <a:rPr lang="en-SG" sz="9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Street name of the flat​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76200" algn="l">
                        <a:lnSpc>
                          <a:spcPts val="0"/>
                        </a:lnSpc>
                      </a:pPr>
                      <a:r>
                        <a:rPr lang="en-SG" sz="8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storey_range​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1440" algn="l">
                        <a:lnSpc>
                          <a:spcPts val="0"/>
                        </a:lnSpc>
                      </a:pPr>
                      <a:r>
                        <a:rPr lang="en-SG" sz="9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Floor range of the flat​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0" indent="76200" algn="l">
                        <a:lnSpc>
                          <a:spcPts val="0"/>
                        </a:lnSpc>
                      </a:pPr>
                      <a:r>
                        <a:rPr lang="en-SG" sz="8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floor_area_sqm​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1440" algn="l">
                        <a:lnSpc>
                          <a:spcPts val="0"/>
                        </a:lnSpc>
                      </a:pPr>
                      <a:r>
                        <a:rPr lang="en-SG" sz="9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Floor area in square meters​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indent="76200" algn="l">
                        <a:lnSpc>
                          <a:spcPts val="0"/>
                        </a:lnSpc>
                      </a:pPr>
                      <a:r>
                        <a:rPr lang="en-SG" sz="8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flat_model​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1440" algn="l">
                        <a:lnSpc>
                          <a:spcPts val="0"/>
                        </a:lnSpc>
                      </a:pPr>
                      <a:r>
                        <a:rPr lang="en-SG" sz="9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Model of the flat​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 marL="0" indent="76200" algn="l">
                        <a:lnSpc>
                          <a:spcPts val="0"/>
                        </a:lnSpc>
                      </a:pPr>
                      <a:r>
                        <a:rPr lang="en-SG" sz="8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lease_commence_date​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1440" algn="l">
                        <a:lnSpc>
                          <a:spcPts val="0"/>
                        </a:lnSpc>
                      </a:pPr>
                      <a:r>
                        <a:rPr lang="en-SG" sz="9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Year the lease started​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indent="76200" algn="l">
                        <a:lnSpc>
                          <a:spcPts val="0"/>
                        </a:lnSpc>
                      </a:pPr>
                      <a:r>
                        <a:rPr lang="en-SG" sz="8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remaining_lease​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1440" algn="l">
                        <a:lnSpc>
                          <a:spcPts val="0"/>
                        </a:lnSpc>
                      </a:pPr>
                      <a:r>
                        <a:rPr lang="en-SG" sz="9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Remaining lease duration in years and months​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76200" algn="l">
                        <a:lnSpc>
                          <a:spcPts val="0"/>
                        </a:lnSpc>
                      </a:pPr>
                      <a:r>
                        <a:rPr lang="en-SG" sz="8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resale_price​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91440" algn="l">
                        <a:lnSpc>
                          <a:spcPts val="0"/>
                        </a:lnSpc>
                      </a:pPr>
                      <a:r>
                        <a:rPr lang="en-SG" sz="9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Resale price​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5864860" y="3522980"/>
            <a:ext cx="3147695" cy="199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marL="0" indent="0" algn="l"/>
            <a:r>
              <a:rPr lang="en-US" altLang="en-GB" sz="2000" b="1" i="0">
                <a:solidFill>
                  <a:schemeClr val="tx2">
                    <a:lumMod val="75000"/>
                  </a:schemeClr>
                </a:solidFill>
                <a:ea typeface="Times New Roman" panose="02020603050405020304"/>
                <a:cs typeface="+mn-lt"/>
              </a:rPr>
              <a:t>Apply Cleaning Rule:​</a:t>
            </a:r>
            <a:br>
              <a:rPr lang="en-US" altLang="en-GB" sz="2000" b="1" i="0">
                <a:solidFill>
                  <a:schemeClr val="tx2">
                    <a:lumMod val="75000"/>
                  </a:schemeClr>
                </a:solidFill>
                <a:ea typeface="Times New Roman" panose="02020603050405020304"/>
                <a:cs typeface="+mn-lt"/>
              </a:rPr>
            </a:br>
            <a:br>
              <a:rPr lang="en-US" altLang="en-GB" sz="2000" b="1" i="0">
                <a:solidFill>
                  <a:schemeClr val="tx2">
                    <a:lumMod val="75000"/>
                  </a:schemeClr>
                </a:solidFill>
                <a:ea typeface="Times New Roman" panose="02020603050405020304"/>
                <a:cs typeface="+mn-lt"/>
              </a:rPr>
            </a:br>
            <a:r>
              <a:rPr lang="en-US" altLang="en-GB" sz="2000" b="1" i="0">
                <a:solidFill>
                  <a:schemeClr val="tx2">
                    <a:lumMod val="75000"/>
                  </a:schemeClr>
                </a:solidFill>
                <a:ea typeface="Times New Roman" panose="02020603050405020304"/>
                <a:cs typeface="+mn-lt"/>
              </a:rPr>
              <a:t>1.Check for any missing data​</a:t>
            </a:r>
            <a:br>
              <a:rPr lang="en-US" altLang="en-GB" sz="2000" b="1" i="0">
                <a:solidFill>
                  <a:schemeClr val="tx2">
                    <a:lumMod val="75000"/>
                  </a:schemeClr>
                </a:solidFill>
                <a:ea typeface="Times New Roman" panose="02020603050405020304"/>
                <a:cs typeface="+mn-lt"/>
              </a:rPr>
            </a:br>
            <a:endParaRPr lang="en-US" altLang="en-GB" sz="2000" b="1" i="0">
              <a:solidFill>
                <a:schemeClr val="tx2">
                  <a:lumMod val="75000"/>
                </a:schemeClr>
              </a:solidFill>
              <a:ea typeface="Times New Roman" panose="02020603050405020304"/>
              <a:cs typeface="+mn-lt"/>
            </a:endParaRPr>
          </a:p>
          <a:p>
            <a:pPr marL="0" indent="0" algn="l"/>
            <a:r>
              <a:rPr lang="en-US" altLang="en-GB" sz="2000" b="1" i="0">
                <a:solidFill>
                  <a:schemeClr val="tx2">
                    <a:lumMod val="75000"/>
                  </a:schemeClr>
                </a:solidFill>
                <a:ea typeface="Times New Roman" panose="02020603050405020304"/>
                <a:cs typeface="+mn-lt"/>
              </a:rPr>
              <a:t>2.Check for any duplicated data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5975985" y="755015"/>
            <a:ext cx="2926080" cy="2103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182880" tIns="73025" rIns="182880" rtlCol="0" anchor="t" anchorCtr="0">
            <a:noAutofit/>
          </a:bodyPr>
          <a:lstStyle/>
          <a:p>
            <a:pPr algn="l"/>
            <a:r>
              <a:rPr lang="en-US" altLang="en-GB" b="1">
                <a:solidFill>
                  <a:schemeClr val="tx2">
                    <a:lumMod val="75000"/>
                  </a:schemeClr>
                </a:solidFill>
              </a:rPr>
              <a:t>OBJECTIVE</a:t>
            </a:r>
          </a:p>
          <a:p>
            <a:pPr algn="l"/>
            <a:r>
              <a:rPr lang="en-US" altLang="en-GB">
                <a:solidFill>
                  <a:schemeClr val="tx2">
                    <a:lumMod val="75000"/>
                  </a:schemeClr>
                </a:solidFill>
              </a:rPr>
              <a:t>The goal of the transformation is to clean, standardize, and enrich the dataset for analysis, visualization, and modeling purposes. </a:t>
            </a:r>
            <a:endParaRPr lang="en-SG" altLang="en-GB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032000" y="-397192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sz="16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 </a:t>
            </a:r>
          </a:p>
        </p:txBody>
      </p:sp>
      <p:sp>
        <p:nvSpPr>
          <p:cNvPr id="6" name="Title 3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 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Phase </a:t>
            </a:r>
            <a:r>
              <a:rPr lang="en-US"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: </a:t>
            </a:r>
            <a:r>
              <a:rPr lang="en-US" sz="48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Transform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949325" y="1228725"/>
            <a:ext cx="3120390" cy="5012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2200" b="1">
                <a:solidFill>
                  <a:schemeClr val="tx2">
                    <a:lumMod val="75000"/>
                  </a:schemeClr>
                </a:solidFill>
              </a:rPr>
              <a:t>Feature Engineering:​</a:t>
            </a:r>
          </a:p>
          <a:p>
            <a:br>
              <a:rPr lang="en-US" altLang="en-GB" b="1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en-GB" b="1">
                <a:solidFill>
                  <a:schemeClr val="tx2">
                    <a:lumMod val="75000"/>
                  </a:schemeClr>
                </a:solidFill>
              </a:rPr>
              <a:t>1. Drop the ‘_id’ column​</a:t>
            </a:r>
          </a:p>
          <a:p>
            <a:endParaRPr lang="en-US" altLang="en-GB" b="1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altLang="en-GB" b="1">
                <a:solidFill>
                  <a:schemeClr val="tx2">
                    <a:lumMod val="75000"/>
                  </a:schemeClr>
                </a:solidFill>
              </a:rPr>
              <a:t>2. Change the month to datetime type​</a:t>
            </a:r>
          </a:p>
          <a:p>
            <a:endParaRPr lang="en-US" altLang="en-GB" b="1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altLang="en-GB" b="1">
                <a:solidFill>
                  <a:schemeClr val="tx2">
                    <a:lumMod val="75000"/>
                  </a:schemeClr>
                </a:solidFill>
              </a:rPr>
              <a:t>3. Create 3 new column, ‘month’, ‘year’ and ‘quarter’​</a:t>
            </a:r>
          </a:p>
          <a:p>
            <a:endParaRPr lang="en-US" altLang="en-GB" b="1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altLang="en-GB" b="1">
                <a:solidFill>
                  <a:schemeClr val="tx2">
                    <a:lumMod val="75000"/>
                  </a:schemeClr>
                </a:solidFill>
              </a:rPr>
              <a:t>4. Get a new column ‘remaining_lease_years’​</a:t>
            </a:r>
          </a:p>
          <a:p>
            <a:endParaRPr lang="en-US" altLang="en-GB" b="1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altLang="en-GB" b="1">
                <a:solidFill>
                  <a:schemeClr val="tx2">
                    <a:lumMod val="75000"/>
                  </a:schemeClr>
                </a:solidFill>
              </a:rPr>
              <a:t>5. Generate a new column ‘price_per_sqm’​</a:t>
            </a:r>
          </a:p>
          <a:p>
            <a:endParaRPr lang="en-US" altLang="en-GB" b="1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altLang="en-GB" b="1">
                <a:solidFill>
                  <a:schemeClr val="tx2">
                    <a:lumMod val="75000"/>
                  </a:schemeClr>
                </a:solidFill>
              </a:rPr>
              <a:t>6 Generate a new column ‘flat_age_year’​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4277360" y="303244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sz="16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 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640580" y="1235710"/>
            <a:ext cx="268224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200" b="1">
                <a:solidFill>
                  <a:schemeClr val="tx2">
                    <a:lumMod val="75000"/>
                  </a:schemeClr>
                </a:solidFill>
              </a:rPr>
              <a:t>Derived Categories:</a:t>
            </a:r>
            <a:r>
              <a:rPr lang="en-US" altLang="en-GB" sz="2200" b="1"/>
              <a:t> 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4640580" y="1748155"/>
            <a:ext cx="2225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b="1">
                <a:solidFill>
                  <a:schemeClr val="tx2">
                    <a:lumMod val="75000"/>
                  </a:schemeClr>
                </a:solidFill>
              </a:rPr>
              <a:t>1. flat_age_category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2032000" y="289845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sz="16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 </a:t>
            </a:r>
          </a:p>
        </p:txBody>
      </p:sp>
      <p:graphicFrame>
        <p:nvGraphicFramePr>
          <p:cNvPr id="12" name="Table 11"/>
          <p:cNvGraphicFramePr/>
          <p:nvPr>
            <p:custDataLst>
              <p:tags r:id="rId1"/>
            </p:custDataLst>
          </p:nvPr>
        </p:nvGraphicFramePr>
        <p:xfrm>
          <a:off x="4766945" y="2314575"/>
          <a:ext cx="3648075" cy="1360170"/>
        </p:xfrm>
        <a:graphic>
          <a:graphicData uri="http://schemas.openxmlformats.org/drawingml/2006/table">
            <a:tbl>
              <a:tblPr/>
              <a:tblGrid>
                <a:gridCol w="196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73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new​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&lt;10 years​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young​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10-19 years​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middle age​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20-29 years​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mature​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30-39 years​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old​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&gt;39 years​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Box 12"/>
          <p:cNvSpPr txBox="1"/>
          <p:nvPr/>
        </p:nvSpPr>
        <p:spPr>
          <a:xfrm>
            <a:off x="4767580" y="3924300"/>
            <a:ext cx="2225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b="1">
                <a:solidFill>
                  <a:schemeClr val="tx2">
                    <a:lumMod val="75000"/>
                  </a:schemeClr>
                </a:solidFill>
              </a:rPr>
              <a:t>2. price_category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897120" y="4399915"/>
            <a:ext cx="12911455" cy="73342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/>
            <a:r>
              <a:rPr sz="16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 </a:t>
            </a:r>
          </a:p>
        </p:txBody>
      </p:sp>
      <p:graphicFrame>
        <p:nvGraphicFramePr>
          <p:cNvPr id="15" name="Table 14"/>
          <p:cNvGraphicFramePr/>
          <p:nvPr>
            <p:custDataLst>
              <p:tags r:id="rId2"/>
            </p:custDataLst>
          </p:nvPr>
        </p:nvGraphicFramePr>
        <p:xfrm>
          <a:off x="4797425" y="4542155"/>
          <a:ext cx="3618230" cy="1699260"/>
        </p:xfrm>
        <a:graphic>
          <a:graphicData uri="http://schemas.openxmlformats.org/drawingml/2006/table">
            <a:tbl>
              <a:tblPr/>
              <a:tblGrid>
                <a:gridCol w="194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81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low​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&lt; 300k​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medium​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300k - 499k​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high​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500k - 799k​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premium​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0"/>
                        </a:lnSpc>
                      </a:pPr>
                      <a:r>
                        <a:rPr lang="en-SG" sz="1100" b="0" i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&gt; 800k​</a:t>
                      </a:r>
                    </a:p>
                  </a:txBody>
                  <a:tcPr marL="0" marR="0" marT="0" marB="0" anchor="ctr">
                    <a:lnL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032000" y="-397192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sz="16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 </a:t>
            </a:r>
          </a:p>
        </p:txBody>
      </p:sp>
      <p:sp>
        <p:nvSpPr>
          <p:cNvPr id="6" name="Title 3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 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Phase </a:t>
            </a:r>
            <a:r>
              <a:rPr lang="en-US"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: </a:t>
            </a:r>
            <a:r>
              <a:rPr lang="en-US" sz="48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Transform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011805" y="1228725"/>
            <a:ext cx="3120390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2500" b="1">
                <a:solidFill>
                  <a:schemeClr val="tx2">
                    <a:lumMod val="75000"/>
                  </a:schemeClr>
                </a:solidFill>
              </a:rPr>
              <a:t>Output Data Schema</a:t>
            </a:r>
            <a:endParaRPr lang="en-US" altLang="en-GB"/>
          </a:p>
          <a:p>
            <a:r>
              <a:rPr lang="en-US" altLang="en-GB"/>
              <a:t>​</a:t>
            </a:r>
          </a:p>
          <a:p>
            <a:endParaRPr lang="en-US" altLang="en-GB"/>
          </a:p>
          <a:p>
            <a:endParaRPr lang="en-US" altLang="en-GB"/>
          </a:p>
        </p:txBody>
      </p:sp>
      <p:sp>
        <p:nvSpPr>
          <p:cNvPr id="10" name="Text Box 9"/>
          <p:cNvSpPr txBox="1"/>
          <p:nvPr/>
        </p:nvSpPr>
        <p:spPr>
          <a:xfrm>
            <a:off x="4277360" y="303244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sz="16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 </a:t>
            </a:r>
          </a:p>
        </p:txBody>
      </p:sp>
      <p:pic>
        <p:nvPicPr>
          <p:cNvPr id="3" name="Picture 2" descr="boon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070" y="1826260"/>
            <a:ext cx="6245860" cy="48494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032000" y="-397192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sz="16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 </a:t>
            </a:r>
          </a:p>
        </p:txBody>
      </p:sp>
      <p:sp>
        <p:nvSpPr>
          <p:cNvPr id="6" name="Title 3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 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Phase </a:t>
            </a:r>
            <a:r>
              <a:rPr lang="en-US"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: </a:t>
            </a:r>
            <a:r>
              <a:rPr lang="en-US" sz="48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Transform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016000" y="1325245"/>
            <a:ext cx="6097270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2500" b="1">
                <a:solidFill>
                  <a:schemeClr val="tx2">
                    <a:lumMod val="75000"/>
                  </a:schemeClr>
                </a:solidFill>
              </a:rPr>
              <a:t>Create validation for the following:​</a:t>
            </a:r>
          </a:p>
          <a:p>
            <a:endParaRPr lang="en-US" altLang="en-GB"/>
          </a:p>
          <a:p>
            <a:r>
              <a:rPr lang="en-US" altLang="en-GB"/>
              <a:t>​</a:t>
            </a:r>
          </a:p>
          <a:p>
            <a:endParaRPr lang="en-US" altLang="en-GB"/>
          </a:p>
          <a:p>
            <a:endParaRPr lang="en-US" altLang="en-GB"/>
          </a:p>
        </p:txBody>
      </p:sp>
      <p:sp>
        <p:nvSpPr>
          <p:cNvPr id="3" name="Text Box 2"/>
          <p:cNvSpPr txBox="1"/>
          <p:nvPr/>
        </p:nvSpPr>
        <p:spPr>
          <a:xfrm>
            <a:off x="1016000" y="1879600"/>
            <a:ext cx="3935095" cy="15392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defRPr sz="2800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f</a:t>
            </a:r>
            <a:r>
              <a:rPr lang="en-US" altLang="en-GB" sz="2000" b="1">
                <a:solidFill>
                  <a:schemeClr val="tx2">
                    <a:lumMod val="75000"/>
                  </a:schemeClr>
                </a:solidFill>
                <a:sym typeface="+mn-ea"/>
              </a:rPr>
              <a:t>loor_area_sqm​</a:t>
            </a:r>
            <a:endParaRPr lang="en-US" sz="20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endParaRPr lang="en-US" sz="20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r</a:t>
            </a:r>
            <a:r>
              <a:rPr lang="en-US" altLang="en-GB" sz="2000" b="1">
                <a:solidFill>
                  <a:schemeClr val="tx2">
                    <a:lumMod val="75000"/>
                  </a:schemeClr>
                </a:solidFill>
                <a:sym typeface="+mn-ea"/>
              </a:rPr>
              <a:t>esale_price​</a:t>
            </a:r>
            <a:endParaRPr lang="en-US" sz="20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endParaRPr lang="en-US" sz="20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l</a:t>
            </a:r>
            <a:r>
              <a:rPr lang="en-US" altLang="en-GB" sz="2000" b="1">
                <a:solidFill>
                  <a:schemeClr val="tx2">
                    <a:lumMod val="75000"/>
                  </a:schemeClr>
                </a:solidFill>
                <a:sym typeface="+mn-ea"/>
              </a:rPr>
              <a:t>ease_commence_Date</a:t>
            </a:r>
            <a:endParaRPr lang="en-US" altLang="en-GB" sz="2000" b="1">
              <a:solidFill>
                <a:schemeClr val="tx2">
                  <a:lumMod val="75000"/>
                </a:schemeClr>
              </a:solidFill>
            </a:endParaRPr>
          </a:p>
          <a:p>
            <a:pPr>
              <a:defRPr sz="2800"/>
            </a:pPr>
            <a:endParaRPr lang="en-US" altLang="en-GB" sz="20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16000" y="3757930"/>
            <a:ext cx="62687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500" b="1">
                <a:solidFill>
                  <a:schemeClr val="tx2">
                    <a:lumMod val="75000"/>
                  </a:schemeClr>
                </a:solidFill>
              </a:rPr>
              <a:t>Output generated shows it is in a valid range</a:t>
            </a:r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16000" y="4450715"/>
            <a:ext cx="6475095" cy="1407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032000" y="-397192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sz="16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 </a:t>
            </a:r>
          </a:p>
        </p:txBody>
      </p:sp>
      <p:sp>
        <p:nvSpPr>
          <p:cNvPr id="6" name="Title 3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 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Phase </a:t>
            </a:r>
            <a:r>
              <a:rPr lang="en-US"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: </a:t>
            </a:r>
            <a:r>
              <a:rPr lang="en-US" sz="48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Transform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609600" y="1586865"/>
          <a:ext cx="7914640" cy="4669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3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GB" sz="2000"/>
                        <a:t>Challenges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GB" sz="2000"/>
                        <a:t>Improvements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865">
                <a:tc>
                  <a:txBody>
                    <a:bodyPr/>
                    <a:lstStyle/>
                    <a:p>
                      <a:pPr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en-GB" sz="20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Regex library is a new item to 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en-GB" sz="20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To add in gate to check the column name in case changes from input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1225">
                <a:tc>
                  <a:txBody>
                    <a:bodyPr/>
                    <a:lstStyle/>
                    <a:p>
                      <a:pPr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en-GB" sz="20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Using regex to do a search in string object to get the information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en-GB" sz="20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To standardize all the string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6875">
                <a:tc>
                  <a:txBody>
                    <a:bodyPr/>
                    <a:lstStyle/>
                    <a:p>
                      <a:pPr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en-GB" sz="20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Using the pathlib library to get the file and store the output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en-GB" sz="20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To add in more detail validation to ensure all data is probably validated to prevent wrong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329565" y="1593850"/>
          <a:ext cx="8517890" cy="5103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1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33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GB" sz="2000"/>
                        <a:t>PostgreSQL Setup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800" dirty="0">
                          <a:solidFill>
                            <a:schemeClr val="tx2">
                              <a:lumMod val="75000"/>
                            </a:schemeClr>
                          </a:solidFill>
                          <a:sym typeface="+mn-ea"/>
                        </a:rPr>
                        <a:t>Database created via pgAdmin or create_db.py</a:t>
                      </a:r>
                      <a:endParaRPr lang="en-SG" altLang="en-GB" sz="1800" dirty="0">
                        <a:solidFill>
                          <a:schemeClr val="tx2">
                            <a:lumMod val="75000"/>
                          </a:schemeClr>
                        </a:solidFill>
                        <a:sym typeface="+mn-ea"/>
                      </a:endParaRP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  <a:sym typeface="+mn-ea"/>
                        </a:rPr>
                        <a:t>Connection handled by reuseable </a:t>
                      </a:r>
                      <a:r>
                        <a:rPr lang="en-US" sz="1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sym typeface="+mn-ea"/>
                        </a:rPr>
                        <a:t>get_engine</a:t>
                      </a:r>
                      <a:r>
                        <a:rPr lang="en-US" sz="1800" dirty="0">
                          <a:solidFill>
                            <a:schemeClr val="tx2">
                              <a:lumMod val="75000"/>
                            </a:schemeClr>
                          </a:solidFill>
                          <a:sym typeface="+mn-ea"/>
                        </a:rPr>
                        <a:t>() function</a:t>
                      </a:r>
                      <a:endParaRPr lang="en-US" altLang="en-US" sz="1800" dirty="0">
                        <a:solidFill>
                          <a:schemeClr val="tx2">
                            <a:lumMod val="75000"/>
                          </a:schemeClr>
                        </a:solidFill>
                        <a:sym typeface="+mn-ea"/>
                      </a:endParaRP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41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663575" y="2976880"/>
            <a:ext cx="2724150" cy="3597275"/>
            <a:chOff x="1177767" y="2693019"/>
            <a:chExt cx="3170195" cy="3635056"/>
          </a:xfrm>
        </p:grpSpPr>
        <p:pic>
          <p:nvPicPr>
            <p:cNvPr id="9" name="Picture 8" descr="A screenshot of a computer&#10;&#10;AI-generated content may be incorrect.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77767" y="2693020"/>
              <a:ext cx="3170195" cy="3635055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>
              <a:off x="1177768" y="2693019"/>
              <a:ext cx="3170194" cy="1416865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9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77768" y="4375356"/>
              <a:ext cx="3170194" cy="1952719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90000"/>
              </a:schemeClr>
            </a:soli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pic>
        <p:nvPicPr>
          <p:cNvPr id="13" name="Picture 12" descr="A screen shot of a computer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455" y="3585210"/>
            <a:ext cx="4959985" cy="2125345"/>
          </a:xfrm>
          <a:prstGeom prst="rect">
            <a:avLst/>
          </a:prstGeom>
        </p:spPr>
      </p:pic>
      <p:sp>
        <p:nvSpPr>
          <p:cNvPr id="2" name="Title 3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     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Phase </a:t>
            </a:r>
            <a:r>
              <a:rPr lang="en-US"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3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: </a:t>
            </a:r>
            <a:r>
              <a:rPr lang="en-US" sz="48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LOAD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0" y="1000760"/>
            <a:ext cx="8427720" cy="43307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tIns="73025" rtlCol="0" anchor="t" anchorCtr="0">
            <a:noAutofit/>
          </a:bodyPr>
          <a:lstStyle/>
          <a:p>
            <a:pPr algn="just"/>
            <a:r>
              <a:rPr lang="en-US" altLang="en-GB">
                <a:solidFill>
                  <a:schemeClr val="tx2">
                    <a:lumMod val="75000"/>
                  </a:schemeClr>
                </a:solidFill>
              </a:rPr>
              <a:t>OBJECTIVE: </a:t>
            </a:r>
            <a:r>
              <a:rPr lang="en-US" altLang="en-GB" dirty="0">
                <a:solidFill>
                  <a:schemeClr val="tx2">
                    <a:lumMod val="75000"/>
                  </a:schemeClr>
                </a:solidFill>
              </a:rPr>
              <a:t>Move transformed data onto PostgreSQL for structured storage and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215900" y="1330960"/>
          <a:ext cx="8706485" cy="521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3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GB" sz="2000"/>
                        <a:t>Table Schema Definition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GB" sz="2000"/>
                        <a:t>Create Table In PostgreSQL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6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SG" sz="2000" dirty="0">
                          <a:solidFill>
                            <a:schemeClr val="tx2">
                              <a:lumMod val="75000"/>
                            </a:schemeClr>
                          </a:solidFill>
                          <a:sym typeface="+mn-ea"/>
                        </a:rPr>
                        <a:t>Defined schema.py using </a:t>
                      </a:r>
                      <a:r>
                        <a:rPr lang="en-SG" sz="20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sym typeface="+mn-ea"/>
                        </a:rPr>
                        <a:t>SQLAlchemy</a:t>
                      </a:r>
                      <a:endParaRPr lang="en-GB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buFont typeface="Arial" panose="020B0604020202020204" pitchFamily="34" charset="0"/>
                        <a:buNone/>
                      </a:pPr>
                      <a:r>
                        <a:rPr lang="en-SG" sz="2000" dirty="0">
                          <a:solidFill>
                            <a:schemeClr val="tx2">
                              <a:lumMod val="75000"/>
                            </a:schemeClr>
                          </a:solidFill>
                          <a:sym typeface="+mn-ea"/>
                        </a:rPr>
                        <a:t>Table created via create_table.py</a:t>
                      </a:r>
                      <a:endParaRPr lang="en-SG" altLang="en-US" sz="2000" dirty="0">
                        <a:solidFill>
                          <a:schemeClr val="tx2">
                            <a:lumMod val="75000"/>
                          </a:schemeClr>
                        </a:solidFill>
                        <a:sym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60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Picture 10" descr="A computer screen shot of a program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" y="2872105"/>
            <a:ext cx="3028950" cy="3519170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680" y="3289935"/>
            <a:ext cx="5103495" cy="1819275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     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Phase </a:t>
            </a:r>
            <a:r>
              <a:rPr lang="en-US"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3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: </a:t>
            </a:r>
            <a:r>
              <a:rPr lang="en-US" sz="48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LOAD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8970" y="1215390"/>
            <a:ext cx="374777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000" b="1" dirty="0">
                <a:solidFill>
                  <a:schemeClr val="tx2">
                    <a:lumMod val="75000"/>
                  </a:schemeClr>
                </a:solidFill>
              </a:rPr>
              <a:t>Loading via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5925" y="1751965"/>
            <a:ext cx="856043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200" dirty="0">
                <a:solidFill>
                  <a:schemeClr val="tx2">
                    <a:lumMod val="75000"/>
                  </a:schemeClr>
                </a:solidFill>
              </a:rPr>
              <a:t>Data inserted using </a:t>
            </a:r>
            <a:r>
              <a:rPr lang="en-SG" sz="2200" dirty="0" err="1">
                <a:solidFill>
                  <a:schemeClr val="tx2">
                    <a:lumMod val="75000"/>
                  </a:schemeClr>
                </a:solidFill>
              </a:rPr>
              <a:t>pandas.to_sql</a:t>
            </a:r>
            <a:r>
              <a:rPr lang="en-SG" sz="2200" dirty="0">
                <a:solidFill>
                  <a:schemeClr val="tx2">
                    <a:lumMod val="75000"/>
                  </a:schemeClr>
                </a:solidFill>
              </a:rPr>
              <a:t>() with chunking (5000 rows)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200" dirty="0">
                <a:solidFill>
                  <a:schemeClr val="tx2">
                    <a:lumMod val="75000"/>
                  </a:schemeClr>
                </a:solidFill>
              </a:rPr>
              <a:t>Progress tracked with </a:t>
            </a:r>
            <a:r>
              <a:rPr lang="en-SG" sz="2200" dirty="0" err="1">
                <a:solidFill>
                  <a:schemeClr val="tx2">
                    <a:lumMod val="75000"/>
                  </a:schemeClr>
                </a:solidFill>
              </a:rPr>
              <a:t>tqdm</a:t>
            </a:r>
            <a:r>
              <a:rPr lang="en-SG" sz="2200" dirty="0">
                <a:solidFill>
                  <a:schemeClr val="tx2">
                    <a:lumMod val="75000"/>
                  </a:schemeClr>
                </a:solidFill>
              </a:rPr>
              <a:t> for visibility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200" dirty="0">
                <a:solidFill>
                  <a:schemeClr val="tx2">
                    <a:lumMod val="75000"/>
                  </a:schemeClr>
                </a:solidFill>
              </a:rPr>
              <a:t>Logging capture success / failure messages</a:t>
            </a:r>
          </a:p>
          <a:p>
            <a:endParaRPr lang="en-SG" sz="2200" dirty="0">
              <a:solidFill>
                <a:schemeClr val="tx2">
                  <a:lumMod val="75000"/>
                </a:schemeClr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30880" y="2871181"/>
            <a:ext cx="8142204" cy="3586339"/>
            <a:chOff x="730880" y="2928966"/>
            <a:chExt cx="8142204" cy="3586339"/>
          </a:xfrm>
        </p:grpSpPr>
        <p:pic>
          <p:nvPicPr>
            <p:cNvPr id="19" name="Picture 18" descr="A screen shot of a computer&#10;&#10;AI-generated content may be incorrect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0880" y="2928966"/>
              <a:ext cx="7611587" cy="2053173"/>
            </a:xfrm>
            <a:prstGeom prst="rect">
              <a:avLst/>
            </a:prstGeom>
          </p:spPr>
        </p:pic>
        <p:grpSp>
          <p:nvGrpSpPr>
            <p:cNvPr id="20" name="Group 19"/>
            <p:cNvGrpSpPr/>
            <p:nvPr/>
          </p:nvGrpSpPr>
          <p:grpSpPr>
            <a:xfrm>
              <a:off x="4439341" y="5125159"/>
              <a:ext cx="4049342" cy="1390146"/>
              <a:chOff x="656547" y="3282633"/>
              <a:chExt cx="7132938" cy="1895967"/>
            </a:xfrm>
          </p:grpSpPr>
          <p:pic>
            <p:nvPicPr>
              <p:cNvPr id="7" name="Picture 6" descr="A computer screen with text on it&#10;&#10;AI-generated content may be incorrect."/>
              <p:cNvPicPr>
                <a:picLocks noChangeAspect="1"/>
              </p:cNvPicPr>
              <p:nvPr/>
            </p:nvPicPr>
            <p:blipFill>
              <a:blip r:embed="rId4"/>
              <a:srcRect t="15594" b="29118"/>
              <a:stretch>
                <a:fillRect/>
              </a:stretch>
            </p:blipFill>
            <p:spPr>
              <a:xfrm>
                <a:off x="656547" y="3282633"/>
                <a:ext cx="7132938" cy="1895967"/>
              </a:xfrm>
              <a:prstGeom prst="rect">
                <a:avLst/>
              </a:prstGeom>
            </p:spPr>
          </p:pic>
          <p:sp>
            <p:nvSpPr>
              <p:cNvPr id="8" name="Rectangle 7"/>
              <p:cNvSpPr/>
              <p:nvPr/>
            </p:nvSpPr>
            <p:spPr>
              <a:xfrm>
                <a:off x="1671484" y="3429000"/>
                <a:ext cx="3913239" cy="208935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13" name="Callout: Left Arrow 12"/>
            <p:cNvSpPr/>
            <p:nvPr/>
          </p:nvSpPr>
          <p:spPr>
            <a:xfrm>
              <a:off x="5907782" y="3791926"/>
              <a:ext cx="2410308" cy="278630"/>
            </a:xfrm>
            <a:prstGeom prst="leftArrowCallou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400" dirty="0"/>
                <a:t>Progress tracked</a:t>
              </a:r>
            </a:p>
          </p:txBody>
        </p:sp>
        <p:sp>
          <p:nvSpPr>
            <p:cNvPr id="14" name="Callout: Left Arrow 13"/>
            <p:cNvSpPr/>
            <p:nvPr/>
          </p:nvSpPr>
          <p:spPr>
            <a:xfrm>
              <a:off x="7237048" y="5183317"/>
              <a:ext cx="1636036" cy="256000"/>
            </a:xfrm>
            <a:prstGeom prst="leftArrowCallou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400" dirty="0"/>
                <a:t>Chunking</a:t>
              </a:r>
            </a:p>
          </p:txBody>
        </p:sp>
        <p:sp>
          <p:nvSpPr>
            <p:cNvPr id="21" name="Callout: Up Arrow 20"/>
            <p:cNvSpPr/>
            <p:nvPr/>
          </p:nvSpPr>
          <p:spPr>
            <a:xfrm>
              <a:off x="2526890" y="4422109"/>
              <a:ext cx="1113230" cy="963562"/>
            </a:xfrm>
            <a:prstGeom prst="upArrowCallou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400" dirty="0"/>
                <a:t>Logging</a:t>
              </a:r>
            </a:p>
            <a:p>
              <a:pPr algn="ctr"/>
              <a:r>
                <a:rPr lang="en-SG" sz="1400" dirty="0"/>
                <a:t>verification message</a:t>
              </a:r>
            </a:p>
          </p:txBody>
        </p:sp>
      </p:grpSp>
      <p:sp>
        <p:nvSpPr>
          <p:cNvPr id="9" name="Title 3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     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Phase </a:t>
            </a:r>
            <a:r>
              <a:rPr lang="en-US"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3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: </a:t>
            </a:r>
            <a:r>
              <a:rPr lang="en-US" sz="48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LOAD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67528" y="1326198"/>
            <a:ext cx="1879600" cy="553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000" b="1" dirty="0">
                <a:solidFill>
                  <a:schemeClr val="tx2">
                    <a:lumMod val="75000"/>
                  </a:schemeClr>
                </a:solidFill>
              </a:rP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528" y="2002798"/>
            <a:ext cx="7208943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SG" sz="2200" b="1" dirty="0">
                <a:solidFill>
                  <a:schemeClr val="tx2">
                    <a:lumMod val="75000"/>
                  </a:schemeClr>
                </a:solidFill>
              </a:rPr>
              <a:t>File path handling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SG" sz="2200" dirty="0">
                <a:solidFill>
                  <a:schemeClr val="tx2">
                    <a:lumMod val="75000"/>
                  </a:schemeClr>
                </a:solidFill>
              </a:rPr>
              <a:t>Issue: Confusion between relative path (../data/…) and absolute path (Path(__filer__)).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SG" sz="2200" dirty="0">
                <a:solidFill>
                  <a:schemeClr val="tx2">
                    <a:lumMod val="75000"/>
                  </a:schemeClr>
                </a:solidFill>
              </a:rPr>
              <a:t>Fixed: Standardized on </a:t>
            </a:r>
            <a:r>
              <a:rPr lang="en-SG" sz="2200" dirty="0" err="1">
                <a:solidFill>
                  <a:schemeClr val="tx2">
                    <a:lumMod val="75000"/>
                  </a:schemeClr>
                </a:solidFill>
              </a:rPr>
              <a:t>pathlib</a:t>
            </a:r>
            <a:r>
              <a:rPr lang="en-SG" sz="2200" dirty="0">
                <a:solidFill>
                  <a:schemeClr val="tx2">
                    <a:lumMod val="75000"/>
                  </a:schemeClr>
                </a:solidFill>
              </a:rPr>
              <a:t> Path for consistent, cross-platform resolution.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7527" y="3851271"/>
            <a:ext cx="7208943" cy="246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"/>
            </a:pPr>
            <a:r>
              <a:rPr lang="en-US" sz="2200" b="1" dirty="0">
                <a:solidFill>
                  <a:schemeClr val="tx2">
                    <a:lumMod val="75000"/>
                  </a:schemeClr>
                </a:solidFill>
              </a:rPr>
              <a:t>Repeated code spread across multiple scripts</a:t>
            </a:r>
            <a:endParaRPr lang="en-SG" sz="2200" b="1" dirty="0">
              <a:solidFill>
                <a:schemeClr val="tx2">
                  <a:lumMod val="75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>
                    <a:lumMod val="75000"/>
                  </a:schemeClr>
                </a:solidFill>
              </a:rPr>
              <a:t>Issue: Code duplication across multiple scripts led to messy and hard to maintain code.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>
                    <a:lumMod val="75000"/>
                  </a:schemeClr>
                </a:solidFill>
              </a:rPr>
              <a:t>Solution: Refactored common logic (database connection) into a separate utility file. Import these functions, or configurations in each script to ensure consistency and reducing duplication.</a:t>
            </a:r>
            <a:endParaRPr lang="en-US" sz="2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Title 3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     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Phase </a:t>
            </a:r>
            <a:r>
              <a:rPr lang="en-US"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3</a:t>
            </a:r>
            <a:r>
              <a:rPr sz="4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: </a:t>
            </a:r>
            <a:r>
              <a:rPr lang="en-US" sz="48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LOAD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492752" y="1205865"/>
          <a:ext cx="4573905" cy="5363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STEP 2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anose="020F0502020204030204"/>
                          <a:sym typeface="+mn-ea"/>
                        </a:rPr>
                        <a:t>Reproduce EDA In SQL </a:t>
                      </a:r>
                      <a:endParaRPr lang="en-US" sz="1800" b="1" i="0" u="none" strike="noStrike" noProof="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1090">
                <a:tc gridSpan="2">
                  <a:txBody>
                    <a:bodyPr/>
                    <a:lstStyle/>
                    <a:p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55067" y="1224915"/>
          <a:ext cx="4225290" cy="535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6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STEP 1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anose="020F0502020204030204"/>
                        </a:rPr>
                        <a:t>Validate Data Integrity 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0">
                <a:tc gridSpan="2">
                  <a:txBody>
                    <a:bodyPr/>
                    <a:lstStyle/>
                    <a:p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3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Phase 4: </a:t>
            </a:r>
            <a:r>
              <a:rPr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SQL</a:t>
            </a:r>
            <a:r>
              <a:rPr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Layer </a:t>
            </a:r>
            <a:r>
              <a:rPr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&amp; Views</a:t>
            </a:r>
          </a:p>
        </p:txBody>
      </p:sp>
      <p:pic>
        <p:nvPicPr>
          <p:cNvPr id="3" name="Picture 2" descr="dataintegritypresent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1941830"/>
            <a:ext cx="3817620" cy="4239260"/>
          </a:xfrm>
          <a:prstGeom prst="rect">
            <a:avLst/>
          </a:prstGeom>
        </p:spPr>
      </p:pic>
      <p:pic>
        <p:nvPicPr>
          <p:cNvPr id="8" name="Picture 7" descr="edapresent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075" y="1794510"/>
            <a:ext cx="4232910" cy="46710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623435" y="1287780"/>
          <a:ext cx="4396105" cy="5351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8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STEP 4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anose="020F0502020204030204"/>
                          <a:sym typeface="+mn-ea"/>
                        </a:rPr>
                        <a:t>SQL Queries Via Story </a:t>
                      </a:r>
                      <a:endParaRPr lang="en-US" sz="1800" b="1" i="0" u="none" strike="noStrike" noProof="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0930">
                <a:tc gridSpan="2">
                  <a:txBody>
                    <a:bodyPr/>
                    <a:lstStyle/>
                    <a:p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27635" y="1286510"/>
          <a:ext cx="4428490" cy="535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8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STEP 3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anose="020F0502020204030204"/>
                          <a:sym typeface="+mn-ea"/>
                        </a:rPr>
                        <a:t>Create Analytical Queries + Views</a:t>
                      </a:r>
                      <a:endParaRPr lang="en-US" sz="1800" b="1" i="0" u="none" strike="noStrike" noProof="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panose="020F0502020204030204"/>
                        <a:sym typeface="+mn-ea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0">
                <a:tc gridSpan="2">
                  <a:txBody>
                    <a:bodyPr/>
                    <a:lstStyle/>
                    <a:p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itle 3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Phase 4: </a:t>
            </a:r>
            <a:r>
              <a:rPr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SQL</a:t>
            </a:r>
            <a:r>
              <a:rPr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Layer </a:t>
            </a:r>
            <a:r>
              <a:rPr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&amp; Views</a:t>
            </a:r>
          </a:p>
        </p:txBody>
      </p:sp>
      <p:pic>
        <p:nvPicPr>
          <p:cNvPr id="2" name="Picture 1" descr="avg_px_mop_present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05" y="1844675"/>
            <a:ext cx="4284345" cy="4666615"/>
          </a:xfrm>
          <a:prstGeom prst="rect">
            <a:avLst/>
          </a:prstGeom>
        </p:spPr>
      </p:pic>
      <p:pic>
        <p:nvPicPr>
          <p:cNvPr id="8" name="Picture 7" descr="storypresent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165" y="2189480"/>
            <a:ext cx="4161790" cy="35572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vg3roomjurongPr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425" y="2380615"/>
            <a:ext cx="3075940" cy="1927225"/>
          </a:xfrm>
          <a:prstGeom prst="rect">
            <a:avLst/>
          </a:prstGeom>
        </p:spPr>
      </p:pic>
      <p:pic>
        <p:nvPicPr>
          <p:cNvPr id="4" name="Picture 3" descr="avg_price_jan_20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030" y="4410075"/>
            <a:ext cx="3584575" cy="2342515"/>
          </a:xfrm>
          <a:prstGeom prst="rect">
            <a:avLst/>
          </a:prstGeom>
        </p:spPr>
      </p:pic>
      <p:pic>
        <p:nvPicPr>
          <p:cNvPr id="5" name="Picture 4" descr="avg_price_45room_jurongeastPr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5" y="4548505"/>
            <a:ext cx="3424555" cy="2199005"/>
          </a:xfrm>
          <a:prstGeom prst="rect">
            <a:avLst/>
          </a:prstGeom>
        </p:spPr>
      </p:pic>
      <p:pic>
        <p:nvPicPr>
          <p:cNvPr id="6" name="Picture 5" descr="avg4roomclementiPr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" y="2418080"/>
            <a:ext cx="2881630" cy="198691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90830" y="1261110"/>
            <a:ext cx="2484120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GB">
                <a:solidFill>
                  <a:schemeClr val="tx2">
                    <a:lumMod val="75000"/>
                  </a:schemeClr>
                </a:solidFill>
              </a:rPr>
              <a:t>Objective = Upgrade to </a:t>
            </a:r>
          </a:p>
          <a:p>
            <a:r>
              <a:rPr lang="en-US" altLang="en-GB">
                <a:solidFill>
                  <a:schemeClr val="tx2">
                    <a:lumMod val="75000"/>
                  </a:schemeClr>
                </a:solidFill>
              </a:rPr>
              <a:t>4 Room HDB flat </a:t>
            </a:r>
          </a:p>
        </p:txBody>
      </p:sp>
      <p:sp>
        <p:nvSpPr>
          <p:cNvPr id="8" name="Text Box 8"/>
          <p:cNvSpPr txBox="1"/>
          <p:nvPr/>
        </p:nvSpPr>
        <p:spPr>
          <a:xfrm>
            <a:off x="2978150" y="1261110"/>
            <a:ext cx="2682875" cy="645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GB">
                <a:solidFill>
                  <a:schemeClr val="tx2">
                    <a:lumMod val="75000"/>
                  </a:schemeClr>
                </a:solidFill>
              </a:rPr>
              <a:t>Current house = 3 Room HDB flat in Jurong East </a:t>
            </a:r>
          </a:p>
        </p:txBody>
      </p:sp>
      <p:sp>
        <p:nvSpPr>
          <p:cNvPr id="9" name="Text Box 9"/>
          <p:cNvSpPr txBox="1"/>
          <p:nvPr/>
        </p:nvSpPr>
        <p:spPr>
          <a:xfrm>
            <a:off x="834390" y="1906270"/>
            <a:ext cx="3801745" cy="368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GB">
                <a:solidFill>
                  <a:schemeClr val="tx2">
                    <a:lumMod val="75000"/>
                  </a:schemeClr>
                </a:solidFill>
              </a:rPr>
              <a:t>Estimated budget = $750k to $800k</a:t>
            </a:r>
            <a:r>
              <a:rPr lang="en-US" altLang="en-GB"/>
              <a:t> </a:t>
            </a:r>
          </a:p>
        </p:txBody>
      </p:sp>
      <p:sp>
        <p:nvSpPr>
          <p:cNvPr id="10" name="Text Box 10"/>
          <p:cNvSpPr txBox="1"/>
          <p:nvPr/>
        </p:nvSpPr>
        <p:spPr>
          <a:xfrm>
            <a:off x="5864225" y="1261110"/>
            <a:ext cx="2980690" cy="645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GB">
                <a:solidFill>
                  <a:schemeClr val="tx2">
                    <a:lumMod val="75000"/>
                  </a:schemeClr>
                </a:solidFill>
              </a:rPr>
              <a:t>Targeted location = Clementi (near good schools and NTU)</a:t>
            </a:r>
          </a:p>
        </p:txBody>
      </p:sp>
      <p:sp>
        <p:nvSpPr>
          <p:cNvPr id="11" name="Text Box 11"/>
          <p:cNvSpPr txBox="1"/>
          <p:nvPr/>
        </p:nvSpPr>
        <p:spPr>
          <a:xfrm>
            <a:off x="4636770" y="1909445"/>
            <a:ext cx="3276600" cy="3683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GB">
                <a:solidFill>
                  <a:schemeClr val="tx2">
                    <a:lumMod val="75000"/>
                  </a:schemeClr>
                </a:solidFill>
              </a:rPr>
              <a:t>Alternative location = Jurong East</a:t>
            </a:r>
            <a:r>
              <a:rPr lang="en-US" altLang="en-GB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2" name="Right Arrow 12"/>
          <p:cNvSpPr/>
          <p:nvPr/>
        </p:nvSpPr>
        <p:spPr>
          <a:xfrm>
            <a:off x="5562600" y="1488440"/>
            <a:ext cx="330200" cy="227965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altLang="en-US"/>
          </a:p>
        </p:txBody>
      </p:sp>
      <p:sp>
        <p:nvSpPr>
          <p:cNvPr id="13" name="Right Arrow 13"/>
          <p:cNvSpPr/>
          <p:nvPr/>
        </p:nvSpPr>
        <p:spPr>
          <a:xfrm>
            <a:off x="2679065" y="1478915"/>
            <a:ext cx="330200" cy="227965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altLang="en-US"/>
          </a:p>
        </p:txBody>
      </p:sp>
      <p:sp>
        <p:nvSpPr>
          <p:cNvPr id="14" name="Right Arrow 14"/>
          <p:cNvSpPr/>
          <p:nvPr/>
        </p:nvSpPr>
        <p:spPr>
          <a:xfrm>
            <a:off x="4302760" y="1974215"/>
            <a:ext cx="367665" cy="227965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altLang="en-US"/>
          </a:p>
        </p:txBody>
      </p:sp>
      <p:sp>
        <p:nvSpPr>
          <p:cNvPr id="15" name="Oval 14"/>
          <p:cNvSpPr/>
          <p:nvPr/>
        </p:nvSpPr>
        <p:spPr>
          <a:xfrm>
            <a:off x="5494655" y="2734945"/>
            <a:ext cx="540385" cy="51054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altLang="en-US"/>
          </a:p>
        </p:txBody>
      </p:sp>
      <p:sp>
        <p:nvSpPr>
          <p:cNvPr id="16" name="Oval 15"/>
          <p:cNvSpPr/>
          <p:nvPr/>
        </p:nvSpPr>
        <p:spPr>
          <a:xfrm>
            <a:off x="3096895" y="4220845"/>
            <a:ext cx="540385" cy="51054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altLang="en-US"/>
          </a:p>
        </p:txBody>
      </p:sp>
      <p:sp>
        <p:nvSpPr>
          <p:cNvPr id="17" name="Text Box 21"/>
          <p:cNvSpPr txBox="1"/>
          <p:nvPr/>
        </p:nvSpPr>
        <p:spPr>
          <a:xfrm>
            <a:off x="2952115" y="2923540"/>
            <a:ext cx="143256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Average Price </a:t>
            </a:r>
          </a:p>
          <a:p>
            <a:pPr algn="l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For 4 Room </a:t>
            </a:r>
          </a:p>
          <a:p>
            <a:pPr algn="l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Clementi</a:t>
            </a:r>
            <a:endParaRPr lang="en-US" altLang="en-US" sz="1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8" name="Text Box 22"/>
          <p:cNvSpPr txBox="1"/>
          <p:nvPr/>
        </p:nvSpPr>
        <p:spPr>
          <a:xfrm>
            <a:off x="4619625" y="3297555"/>
            <a:ext cx="138303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Average Price For 3 Room </a:t>
            </a:r>
          </a:p>
          <a:p>
            <a:pPr algn="r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Jurong East</a:t>
            </a:r>
            <a:endParaRPr lang="en-US" altLang="en-US" sz="1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9" name="Text Box 23"/>
          <p:cNvSpPr txBox="1"/>
          <p:nvPr/>
        </p:nvSpPr>
        <p:spPr>
          <a:xfrm>
            <a:off x="5619115" y="2770505"/>
            <a:ext cx="381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</a:p>
        </p:txBody>
      </p:sp>
      <p:sp>
        <p:nvSpPr>
          <p:cNvPr id="20" name="Text Box 26"/>
          <p:cNvSpPr txBox="1"/>
          <p:nvPr/>
        </p:nvSpPr>
        <p:spPr>
          <a:xfrm>
            <a:off x="3478530" y="4683125"/>
            <a:ext cx="1379855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4/5 Room </a:t>
            </a:r>
          </a:p>
          <a:p>
            <a:pPr algn="l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Average Price </a:t>
            </a:r>
          </a:p>
          <a:p>
            <a:pPr algn="l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Jurong East  </a:t>
            </a:r>
          </a:p>
          <a:p>
            <a:pPr algn="l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70 years left </a:t>
            </a:r>
          </a:p>
          <a:p>
            <a:pPr algn="l"/>
            <a:r>
              <a:rPr lang="en-US" altLang="en-US" sz="1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Oct to </a:t>
            </a:r>
            <a:br>
              <a:rPr lang="en-US" altLang="en-US" sz="1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</a:br>
            <a:r>
              <a:rPr lang="en-US" altLang="en-US" sz="1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Dec 2025</a:t>
            </a:r>
          </a:p>
        </p:txBody>
      </p:sp>
      <p:sp>
        <p:nvSpPr>
          <p:cNvPr id="21" name="Text Box 27"/>
          <p:cNvSpPr txBox="1"/>
          <p:nvPr/>
        </p:nvSpPr>
        <p:spPr>
          <a:xfrm>
            <a:off x="3222625" y="4287520"/>
            <a:ext cx="381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5077460" y="4507230"/>
            <a:ext cx="540385" cy="51054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altLang="en-US"/>
          </a:p>
        </p:txBody>
      </p:sp>
      <p:sp>
        <p:nvSpPr>
          <p:cNvPr id="23" name="Text Box 31"/>
          <p:cNvSpPr txBox="1"/>
          <p:nvPr/>
        </p:nvSpPr>
        <p:spPr>
          <a:xfrm>
            <a:off x="5198745" y="4568825"/>
            <a:ext cx="381635" cy="372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4</a:t>
            </a:r>
          </a:p>
        </p:txBody>
      </p:sp>
      <p:sp>
        <p:nvSpPr>
          <p:cNvPr id="24" name="Text Box 32"/>
          <p:cNvSpPr txBox="1"/>
          <p:nvPr/>
        </p:nvSpPr>
        <p:spPr>
          <a:xfrm>
            <a:off x="4101465" y="3984625"/>
            <a:ext cx="881380" cy="527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45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VS</a:t>
            </a:r>
          </a:p>
        </p:txBody>
      </p:sp>
      <p:sp>
        <p:nvSpPr>
          <p:cNvPr id="25" name="Oval 24"/>
          <p:cNvSpPr/>
          <p:nvPr/>
        </p:nvSpPr>
        <p:spPr>
          <a:xfrm>
            <a:off x="2978150" y="2372995"/>
            <a:ext cx="540385" cy="51054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altLang="en-US"/>
          </a:p>
        </p:txBody>
      </p:sp>
      <p:sp>
        <p:nvSpPr>
          <p:cNvPr id="26" name="Text Box 18"/>
          <p:cNvSpPr txBox="1"/>
          <p:nvPr/>
        </p:nvSpPr>
        <p:spPr>
          <a:xfrm>
            <a:off x="3096895" y="2440940"/>
            <a:ext cx="381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sp>
        <p:nvSpPr>
          <p:cNvPr id="27" name="Title 5"/>
          <p:cNvSpPr>
            <a:spLocks noGrp="1"/>
          </p:cNvSpPr>
          <p:nvPr/>
        </p:nvSpPr>
        <p:spPr>
          <a:xfrm>
            <a:off x="0" y="0"/>
            <a:ext cx="698817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Phase </a:t>
            </a:r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5</a:t>
            </a:r>
            <a:r>
              <a:rPr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: S</a:t>
            </a:r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TORY IN</a:t>
            </a:r>
            <a:r>
              <a:rPr 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SQL</a:t>
            </a:r>
          </a:p>
        </p:txBody>
      </p:sp>
      <p:pic>
        <p:nvPicPr>
          <p:cNvPr id="28" name="Picture 27" descr="familyimage"/>
          <p:cNvPicPr>
            <a:picLocks noChangeAspect="1"/>
          </p:cNvPicPr>
          <p:nvPr/>
        </p:nvPicPr>
        <p:blipFill>
          <a:blip r:embed="rId6">
            <a:alphaModFix amt="80000"/>
            <a:clrChange>
              <a:clrFrom>
                <a:srgbClr val="CFE8EF">
                  <a:alpha val="100000"/>
                </a:srgbClr>
              </a:clrFrom>
              <a:clrTo>
                <a:srgbClr val="CFE8EF">
                  <a:alpha val="100000"/>
                  <a:alpha val="0"/>
                </a:srgbClr>
              </a:clrTo>
            </a:clrChange>
          </a:blip>
          <a:srcRect t="-745" r="77"/>
          <a:stretch>
            <a:fillRect/>
          </a:stretch>
        </p:blipFill>
        <p:spPr>
          <a:xfrm>
            <a:off x="5562600" y="0"/>
            <a:ext cx="1425575" cy="1012190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40" name="Text Box 39"/>
          <p:cNvSpPr txBox="1"/>
          <p:nvPr/>
        </p:nvSpPr>
        <p:spPr>
          <a:xfrm>
            <a:off x="4474210" y="6035675"/>
            <a:ext cx="105029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Average </a:t>
            </a:r>
          </a:p>
          <a:p>
            <a:pPr algn="r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Price from </a:t>
            </a:r>
          </a:p>
          <a:p>
            <a:pPr algn="r"/>
            <a:r>
              <a:rPr lang="en-US" sz="1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 Jan 2025</a:t>
            </a:r>
            <a:endParaRPr lang="en-US" altLang="en-US" sz="1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300990" y="1315085"/>
          <a:ext cx="8522970" cy="5262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1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1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GB"/>
                        <a:t>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GB"/>
                        <a:t>TAKEAWAYS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90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8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Attempted to add a visualisation tool ie Google Looker Studio but encountered a common error faced by users on forums, so had to abandon the idea due to constraint of time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8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Tried Tableu but it is only free for public data otherwise, a fee is required </a:t>
                      </a:r>
                    </a:p>
                  </a:txBody>
                  <a:tcPr marT="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8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Clementi 4 Room flats are about 40% pricier than Jurong East 4 Room flats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800" dirty="0">
                          <a:solidFill>
                            <a:schemeClr val="tx2">
                              <a:lumMod val="75000"/>
                            </a:schemeClr>
                          </a:solidFill>
                          <a:sym typeface="+mn-ea"/>
                        </a:rPr>
                        <a:t>However prices in Jurong East could be comparable with Clementi when Jurong Lake District and MRT lines (JRL and CIL) are completed </a:t>
                      </a:r>
                    </a:p>
                  </a:txBody>
                  <a:tcPr marT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455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8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The constraint of time led to working with 1 big data set instead of breaking it down into smaller groups ie normalisation </a:t>
                      </a:r>
                    </a:p>
                  </a:txBody>
                  <a:tcPr marT="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800" dirty="0">
                          <a:solidFill>
                            <a:schemeClr val="tx2">
                              <a:lumMod val="75000"/>
                            </a:schemeClr>
                          </a:solidFill>
                          <a:sym typeface="+mn-ea"/>
                        </a:rPr>
                        <a:t>No of yearly transactions for 2025 have fallen by 16% since last year and is at the lowest volume since 2020</a:t>
                      </a:r>
                      <a:endParaRPr lang="en-US" altLang="en-GB" sz="18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800" dirty="0">
                          <a:solidFill>
                            <a:schemeClr val="tx2">
                              <a:lumMod val="75000"/>
                            </a:schemeClr>
                          </a:solidFill>
                          <a:sym typeface="+mn-ea"/>
                        </a:rPr>
                        <a:t>This shows the resale market is cooling off though prices have generally climbed throughout 2025</a:t>
                      </a:r>
                      <a:endParaRPr lang="en-US" altLang="en-GB" sz="180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T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itle 6"/>
          <p:cNvSpPr>
            <a:spLocks noGrp="1"/>
          </p:cNvSpPr>
          <p:nvPr/>
        </p:nvSpPr>
        <p:spPr>
          <a:xfrm>
            <a:off x="0" y="0"/>
            <a:ext cx="6736715" cy="1000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INSIGHTS &amp; OBSERVATIONS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0" y="0"/>
            <a:ext cx="6736715" cy="100076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Phase 6: Future Improvements</a:t>
            </a: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534670" y="1560830"/>
          <a:ext cx="8075295" cy="3546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4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8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9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GB"/>
                        <a:t>Automation &amp; Scheduling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GB"/>
                        <a:t>​Analytics Expansion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GB"/>
                        <a:t>Scalable Data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0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GB"/>
                        <a:t>Introduce Airflow or GitHub 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GB"/>
                        <a:t>Build Power BI dashboards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GB"/>
                        <a:t>Create star schema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lvl="1" algn="ctr">
                        <a:buNone/>
                      </a:pPr>
                      <a:r>
                        <a:rPr lang="en-US" sz="1800" dirty="0">
                          <a:sym typeface="+mn-ea"/>
                        </a:rPr>
                        <a:t>Automated monthly refresh</a:t>
                      </a:r>
                      <a:endParaRPr lang="en-US" sz="1800" dirty="0"/>
                    </a:p>
                    <a:p>
                      <a:pPr marL="0" lvl="1" algn="ctr">
                        <a:buNone/>
                      </a:pPr>
                      <a:endParaRPr lang="en-GB" altLang="en-US"/>
                    </a:p>
                  </a:txBody>
                  <a:tcPr marT="182880" marB="0" anchor="ctr" anchorCtr="1"/>
                </a:tc>
                <a:tc>
                  <a:txBody>
                    <a:bodyPr/>
                    <a:lstStyle/>
                    <a:p>
                      <a:pPr marL="0" lvl="1" algn="ctr">
                        <a:buNone/>
                      </a:pPr>
                      <a:r>
                        <a:rPr lang="en-US" sz="1800" dirty="0">
                          <a:sym typeface="+mn-ea"/>
                        </a:rPr>
                        <a:t>Town trends &amp; lease decay</a:t>
                      </a:r>
                      <a:endParaRPr lang="en-US" sz="1800" dirty="0"/>
                    </a:p>
                    <a:p>
                      <a:pPr marL="0" lvl="1" algn="ctr">
                        <a:buNone/>
                      </a:pPr>
                      <a:endParaRPr lang="en-GB" altLang="en-US"/>
                    </a:p>
                  </a:txBody>
                  <a:tcPr marT="182880" marB="0" anchor="ctr" anchorCtr="1"/>
                </a:tc>
                <a:tc>
                  <a:txBody>
                    <a:bodyPr/>
                    <a:lstStyle/>
                    <a:p>
                      <a:pPr marL="0" lvl="1" algn="ctr">
                        <a:buNone/>
                      </a:pPr>
                      <a:r>
                        <a:rPr lang="en-SG" sz="1800" dirty="0">
                          <a:sym typeface="+mn-ea"/>
                        </a:rPr>
                        <a:t>Improve indexing &amp; performance</a:t>
                      </a:r>
                      <a:endParaRPr lang="en-SG" sz="1800" dirty="0"/>
                    </a:p>
                    <a:p>
                      <a:pPr marL="0" lvl="1" algn="ctr">
                        <a:buNone/>
                      </a:pPr>
                      <a:endParaRPr lang="en-GB" altLang="en-US"/>
                    </a:p>
                  </a:txBody>
                  <a:tcPr marT="182880" marB="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8560">
                <a:tc>
                  <a:txBody>
                    <a:bodyPr/>
                    <a:lstStyle/>
                    <a:p>
                      <a:pPr marL="0" lvl="1" algn="ctr">
                        <a:buNone/>
                      </a:pPr>
                      <a:r>
                        <a:rPr lang="en-US" sz="1800" dirty="0">
                          <a:sym typeface="+mn-ea"/>
                        </a:rPr>
                        <a:t>Logging and alerting for ETL failures</a:t>
                      </a:r>
                      <a:endParaRPr lang="en-US" sz="1800" dirty="0"/>
                    </a:p>
                    <a:p>
                      <a:pPr marL="0" lvl="1" algn="ctr">
                        <a:buNone/>
                      </a:pPr>
                      <a:endParaRPr lang="en-GB" altLang="en-US"/>
                    </a:p>
                  </a:txBody>
                  <a:tcPr marT="182880" marB="0" anchor="ctr"/>
                </a:tc>
                <a:tc>
                  <a:txBody>
                    <a:bodyPr/>
                    <a:lstStyle/>
                    <a:p>
                      <a:pPr marL="0" lvl="1" algn="ctr">
                        <a:buNone/>
                      </a:pPr>
                      <a:r>
                        <a:rPr lang="en-US" sz="1800" dirty="0">
                          <a:sym typeface="+mn-ea"/>
                        </a:rPr>
                        <a:t>Forecasting &amp; anomaly detection</a:t>
                      </a:r>
                      <a:endParaRPr lang="en-US" sz="1800" dirty="0"/>
                    </a:p>
                    <a:p>
                      <a:pPr marL="0" lvl="1" algn="ctr">
                        <a:buNone/>
                      </a:pPr>
                      <a:endParaRPr lang="en-GB" altLang="en-US"/>
                    </a:p>
                  </a:txBody>
                  <a:tcPr marT="182880" marB="0" anchor="ctr"/>
                </a:tc>
                <a:tc>
                  <a:txBody>
                    <a:bodyPr/>
                    <a:lstStyle/>
                    <a:p>
                      <a:pPr marL="0" lvl="1" algn="ctr">
                        <a:buNone/>
                      </a:pPr>
                      <a:r>
                        <a:rPr lang="en-SG" sz="1800" dirty="0">
                          <a:sym typeface="+mn-ea"/>
                        </a:rPr>
                        <a:t>Prepare for new datasets</a:t>
                      </a:r>
                      <a:endParaRPr lang="en-SG" sz="1800" dirty="0"/>
                    </a:p>
                    <a:p>
                      <a:pPr marL="0" lvl="1" algn="ctr">
                        <a:buNone/>
                      </a:pPr>
                      <a:endParaRPr lang="en-GB" altLang="en-US"/>
                    </a:p>
                  </a:txBody>
                  <a:tcPr marT="18288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50240" y="1544320"/>
            <a:ext cx="6383655" cy="3881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Full ETL pipeline successfully implemented</a:t>
            </a:r>
          </a:p>
          <a:p>
            <a:pPr>
              <a:defRPr sz="2800"/>
            </a:pPr>
            <a:endParaRPr 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SQL views reveal insights clearly</a:t>
            </a:r>
          </a:p>
          <a:p>
            <a:pPr>
              <a:defRPr sz="2800"/>
            </a:pPr>
            <a:endParaRPr 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Transformations improve data clarity</a:t>
            </a:r>
          </a:p>
          <a:p>
            <a:pPr>
              <a:defRPr sz="2800"/>
            </a:pPr>
            <a:endParaRPr 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Storytelling shows real world usage</a:t>
            </a:r>
          </a:p>
          <a:p>
            <a:pPr>
              <a:defRPr sz="2800"/>
            </a:pPr>
            <a:endParaRPr lang="en-US" sz="25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 sz="2800"/>
            </a:pPr>
            <a:r>
              <a:rPr lang="en-US" sz="2500" b="1" dirty="0">
                <a:solidFill>
                  <a:schemeClr val="tx2">
                    <a:lumMod val="75000"/>
                  </a:schemeClr>
                </a:solidFill>
                <a:sym typeface="+mn-ea"/>
              </a:rPr>
              <a:t>• Pipeline can scale with enhancements</a:t>
            </a:r>
            <a:endParaRPr lang="en-US" altLang="en-US" sz="2500" b="1" dirty="0">
              <a:solidFill>
                <a:schemeClr val="tx2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6" name="Graphic 5" descr="Questions with solid fil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6715" y="2221865"/>
            <a:ext cx="2261870" cy="226187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6736715" cy="100076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Key Takeaways &amp; Closing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657475" y="5593080"/>
            <a:ext cx="421259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45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Eras Bold ITC" panose="020B0907030504020204" charset="0"/>
                <a:cs typeface="Eras Bold ITC" panose="020B0907030504020204" charset="0"/>
              </a:rPr>
              <a:t>THANK YOU</a:t>
            </a:r>
            <a:r>
              <a:rPr lang="en-US" altLang="en-GB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21*410"/>
  <p:tag name="TABLE_ENDDRAG_RECT" val="26*119*421*4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87*107"/>
  <p:tag name="TABLE_ENDDRAG_RECT" val="375*182*287*10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84*133"/>
  <p:tag name="TABLE_ENDDRAG_RECT" val="377*357*284*13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3*360"/>
  <p:tag name="TABLE_ENDDRAG_RECT" val="48*124*623*36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0*395"/>
  <p:tag name="TABLE_ENDDRAG_RECT" val="25*132*670*39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5*405"/>
  <p:tag name="TABLE_ENDDRAG_RECT" val="17*109*685*40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60*422"/>
  <p:tag name="TABLE_ENDDRAG_RECT" val="351*110*360*42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2*421"/>
  <p:tag name="TABLE_ENDDRAG_RECT" val="10*110*332*42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46*421"/>
  <p:tag name="TABLE_ENDDRAG_RECT" val="364*101*346*42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48*421"/>
  <p:tag name="TABLE_ENDDRAG_RECT" val="10*101*348*42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1*414"/>
  <p:tag name="TABLE_ENDDRAG_RECT" val="23*103*671*41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35*268"/>
  <p:tag name="TABLE_ENDDRAG_RECT" val="51*144*635*26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177132-9cff-4bdb-9b7f-c7de35a4d82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AE2C488C280046849C482FBF6223F7" ma:contentTypeVersion="9" ma:contentTypeDescription="Create a new document." ma:contentTypeScope="" ma:versionID="d552b4cdb40523ec8094846309c62ce5">
  <xsd:schema xmlns:xsd="http://www.w3.org/2001/XMLSchema" xmlns:xs="http://www.w3.org/2001/XMLSchema" xmlns:p="http://schemas.microsoft.com/office/2006/metadata/properties" xmlns:ns2="e1177132-9cff-4bdb-9b7f-c7de35a4d82c" targetNamespace="http://schemas.microsoft.com/office/2006/metadata/properties" ma:root="true" ma:fieldsID="936373a087c4ae3b8c9fc78aa1a93ba1" ns2:_="">
    <xsd:import namespace="e1177132-9cff-4bdb-9b7f-c7de35a4d8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177132-9cff-4bdb-9b7f-c7de35a4d8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12e6a1c-c778-403a-bcf3-20fd516974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FDC630-67E2-4150-B282-081A5C750017}">
  <ds:schemaRefs/>
</ds:datastoreItem>
</file>

<file path=customXml/itemProps2.xml><?xml version="1.0" encoding="utf-8"?>
<ds:datastoreItem xmlns:ds="http://schemas.openxmlformats.org/officeDocument/2006/customXml" ds:itemID="{0983257C-0708-48FE-86A0-FC997D951708}">
  <ds:schemaRefs/>
</ds:datastoreItem>
</file>

<file path=customXml/itemProps3.xml><?xml version="1.0" encoding="utf-8"?>
<ds:datastoreItem xmlns:ds="http://schemas.openxmlformats.org/officeDocument/2006/customXml" ds:itemID="{4DCEDC13-B36C-48A6-8FEC-CA52DC97601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6533</Words>
  <Application>Microsoft Office PowerPoint</Application>
  <PresentationFormat>On-screen Show (4:3)</PresentationFormat>
  <Paragraphs>475</Paragraphs>
  <Slides>21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Team Midjoiners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Phase 6: Future Improvements</vt:lpstr>
      <vt:lpstr>Key Takeaways &amp; Closing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e8</cp:lastModifiedBy>
  <cp:revision>44</cp:revision>
  <dcterms:created xsi:type="dcterms:W3CDTF">2013-01-27T09:14:00Z</dcterms:created>
  <dcterms:modified xsi:type="dcterms:W3CDTF">2025-12-17T01:36:07Z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0x010100D7AE2C488C280046849C482FBF6223F7</vt:lpwstr>
  </property>
  <property fmtid="{D5CDD505-2E9C-101B-9397-08002B2CF9AE}" pid="3" name="MediaServiceImageTags">
    <vt:lpwstr/>
  </property>
  <property fmtid="{D5CDD505-2E9C-101B-9397-08002B2CF9AE}" pid="4" name="ICV">
    <vt:lpwstr>9766E7A7579E4B31882F9282F25A5635_13</vt:lpwstr>
  </property>
  <property fmtid="{D5CDD505-2E9C-101B-9397-08002B2CF9AE}" pid="5" name="KSOProductBuildVer">
    <vt:lpwstr>2057-12.2.0.23158</vt:lpwstr>
  </property>
</Properties>
</file>